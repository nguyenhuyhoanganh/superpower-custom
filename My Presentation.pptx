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ter" pitchFamily="34" charset="0"/>
      <p:regular r:id="rId20"/>
      <p:bold r:id="rId21"/>
      <p:italic r:id="rId18"/>
      <p:boldItalic r:id="rId19"/>
    </p:embeddedFont>
    <p:embeddedFont>
      <p:font typeface="Material Symbols Outlined" pitchFamily="34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205880"/>
            <a:ext cx="3429000" cy="61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4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VibeCheck</a:t>
            </a:r>
            <a:endParaRPr lang="en-US" sz="3848" dirty="0"/>
          </a:p>
        </p:txBody>
      </p:sp>
      <p:sp>
        <p:nvSpPr>
          <p:cNvPr id="3" name="Text 1"/>
          <p:cNvSpPr/>
          <p:nvPr/>
        </p:nvSpPr>
        <p:spPr>
          <a:xfrm>
            <a:off x="571500" y="2013570"/>
            <a:ext cx="3429000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Tái dựng AXon &amp; Sản sinh Best Practice ngay trong quá trình vibe code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571500" y="3237533"/>
            <a:ext cx="34290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Code Challenge — 2 Tuần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571500" y="3518520"/>
            <a:ext cx="34290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</a:t>
            </a:r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Trang, Hoàng Anh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571500" y="3751883"/>
            <a:ext cx="34290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</a:t>
            </a:r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Nga, Uy, Hoàng</a:t>
            </a:r>
            <a:endParaRPr lang="en-US" sz="114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AXon: Ứng dụng Nội bộ Chia sẻ Best Practice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476250" y="1781175"/>
            <a:ext cx="3905250" cy="2886075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38100" dir="108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66925"/>
            <a:ext cx="3810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714625"/>
            <a:ext cx="3333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 (BP) là gì?</a:t>
            </a:r>
            <a:endParaRPr lang="en-US" sz="1568" dirty="0"/>
          </a:p>
        </p:txBody>
      </p:sp>
      <p:sp>
        <p:nvSpPr>
          <p:cNvPr id="6" name="Text 3"/>
          <p:cNvSpPr/>
          <p:nvPr/>
        </p:nvSpPr>
        <p:spPr>
          <a:xfrm>
            <a:off x="762000" y="3114675"/>
            <a:ext cx="33337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Một BP là file/link đóng gói: skill, MCP, rule, workflow, hooks, agentic (ví dụ n8n)... giúp tự động hoá hoặc chuẩn hoá công việc cụ thể.</a:t>
            </a:r>
            <a:endParaRPr lang="en-US" sz="1283" dirty="0"/>
          </a:p>
        </p:txBody>
      </p:sp>
      <p:sp>
        <p:nvSpPr>
          <p:cNvPr id="7" name="Shape 4"/>
          <p:cNvSpPr/>
          <p:nvPr/>
        </p:nvSpPr>
        <p:spPr>
          <a:xfrm>
            <a:off x="4762500" y="1781175"/>
            <a:ext cx="3905250" cy="2886075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38100" dir="108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0" y="2066925"/>
            <a:ext cx="3810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48250" y="2714625"/>
            <a:ext cx="3333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Mục tiêu cuộc thi</a:t>
            </a:r>
            <a:endParaRPr lang="en-US" sz="1568" dirty="0"/>
          </a:p>
        </p:txBody>
      </p:sp>
      <p:sp>
        <p:nvSpPr>
          <p:cNvPr id="10" name="Text 6"/>
          <p:cNvSpPr/>
          <p:nvPr/>
        </p:nvSpPr>
        <p:spPr>
          <a:xfrm>
            <a:off x="5048250" y="3114675"/>
            <a:ext cx="33337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code lại AXon trong 2 tuần. Trọng tâm chính là </a:t>
            </a:r>
            <a:pPr algn="l" indent="0" marL="0">
              <a:lnSpc>
                <a:spcPct val="125000"/>
              </a:lnSpc>
              <a:buNone/>
            </a:pPr>
            <a:r>
              <a:rPr lang="en-US" sz="12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sản sinh ra các BPs</a:t>
            </a:r>
            <a:pPr algn="l" indent="0" marL="0">
              <a:lnSpc>
                <a:spcPct val="125000"/>
              </a:lnSpc>
              <a:buNone/>
            </a:pPr>
            <a:r>
              <a:rPr lang="en-US" sz="128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mới trong quá trình xây dựng, tạo artifact thực tiễn.</a:t>
            </a:r>
            <a:endParaRPr lang="en-US" sz="12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91050" y="788194"/>
            <a:ext cx="40767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superpower-custom</a:t>
            </a:r>
            <a:endParaRPr lang="en-US" sz="2708" dirty="0"/>
          </a:p>
        </p:txBody>
      </p:sp>
      <p:sp>
        <p:nvSpPr>
          <p:cNvPr id="6" name="Text 3"/>
          <p:cNvSpPr/>
          <p:nvPr/>
        </p:nvSpPr>
        <p:spPr>
          <a:xfrm>
            <a:off x="4591050" y="1369219"/>
            <a:ext cx="40767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Bản Custom Tối Ưu Cho Cline &amp; Gauss Model</a:t>
            </a:r>
            <a:endParaRPr lang="en-US" sz="1425" dirty="0"/>
          </a:p>
        </p:txBody>
      </p:sp>
      <p:sp>
        <p:nvSpPr>
          <p:cNvPr id="7" name="Text 4"/>
          <p:cNvSpPr/>
          <p:nvPr/>
        </p:nvSpPr>
        <p:spPr>
          <a:xfrm>
            <a:off x="4591050" y="2074069"/>
            <a:ext cx="4076700" cy="2281238"/>
          </a:xfrm>
          <a:prstGeom prst="rect">
            <a:avLst/>
          </a:prstGeom>
          <a:noFill/>
          <a:ln/>
        </p:spPr>
        <p:txBody>
          <a:bodyPr wrap="square" lIns="0" tIns="19050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283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Bối cảnh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Dựa trên </a:t>
            </a:r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obra/superpowers</a:t>
            </a:r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tuỳ biến riêng để hoạt động mượt mà với extension Cline trên VSCode.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283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Hỗ trợ Model Cục bộ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Tích hợp và khai thác AI nội bộ của công ty (Mô hình GaussO3 và GaussO4).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283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Nền tảng đóng gói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Kho lưu trữ đóng gói các skill, workflow, rule... giải quyết bài toán vibe coding nhanh chóng.</a:t>
            </a:r>
            <a:pPr algn="l" indent="0" marL="0">
              <a:buNone/>
            </a:pPr>
            <a:r>
              <a:rPr lang="en-US" sz="114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Kiến Trúc Agentic Trong superpower-custom</a:t>
            </a:r>
            <a:endParaRPr lang="en-US" sz="2708" dirty="0"/>
          </a:p>
        </p:txBody>
      </p:sp>
      <p:sp>
        <p:nvSpPr>
          <p:cNvPr id="3" name="Text 1"/>
          <p:cNvSpPr/>
          <p:nvPr/>
        </p:nvSpPr>
        <p:spPr>
          <a:xfrm>
            <a:off x="476250" y="1009650"/>
            <a:ext cx="819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Mô hình hoạt động phân đôi đặc quyền (Asymmetric Delegation)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476250" y="1600200"/>
            <a:ext cx="3638550" cy="3067050"/>
          </a:xfrm>
          <a:prstGeom prst="roundRect">
            <a:avLst>
              <a:gd name="adj" fmla="val 3727"/>
            </a:avLst>
          </a:prstGeom>
          <a:noFill/>
          <a:ln w="1905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925" y="2231231"/>
            <a:ext cx="457200" cy="552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425" y="2926556"/>
            <a:ext cx="3124200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1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Agent</a:t>
            </a:r>
            <a:endParaRPr lang="en-US" sz="1710" dirty="0"/>
          </a:p>
        </p:txBody>
      </p:sp>
      <p:sp>
        <p:nvSpPr>
          <p:cNvPr id="7" name="Text 4"/>
          <p:cNvSpPr/>
          <p:nvPr/>
        </p:nvSpPr>
        <p:spPr>
          <a:xfrm>
            <a:off x="733425" y="3350419"/>
            <a:ext cx="312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Thực thể điều phối chính. Được cấp quyền viết code và thực thi các dòng lệnh quan trọng trên Terminal thông qua Cline.</a:t>
            </a:r>
            <a:endParaRPr lang="en-US" sz="114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928938"/>
            <a:ext cx="342900" cy="4095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0" y="1600200"/>
            <a:ext cx="3638550" cy="3067050"/>
          </a:xfrm>
          <a:prstGeom prst="roundRect">
            <a:avLst>
              <a:gd name="adj" fmla="val 372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2231231"/>
            <a:ext cx="457200" cy="552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86375" y="2926556"/>
            <a:ext cx="3124200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1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Subagents</a:t>
            </a:r>
            <a:endParaRPr lang="en-US" sz="1710" dirty="0"/>
          </a:p>
        </p:txBody>
      </p:sp>
      <p:sp>
        <p:nvSpPr>
          <p:cNvPr id="12" name="Text 7"/>
          <p:cNvSpPr/>
          <p:nvPr/>
        </p:nvSpPr>
        <p:spPr>
          <a:xfrm>
            <a:off x="5286375" y="3350419"/>
            <a:ext cx="312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Được phái đi song song chỉ để đọc file, khảo sát ngữ cảnh và mã nguồn. Không có quyền thay đổi hệ thống.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839167"/>
            <a:ext cx="4533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Sinh Thái Resource</a:t>
            </a:r>
            <a:endParaRPr lang="en-US" sz="2708" dirty="0"/>
          </a:p>
        </p:txBody>
      </p:sp>
      <p:sp>
        <p:nvSpPr>
          <p:cNvPr id="3" name="Text 1"/>
          <p:cNvSpPr/>
          <p:nvPr/>
        </p:nvSpPr>
        <p:spPr>
          <a:xfrm>
            <a:off x="476250" y="1467817"/>
            <a:ext cx="45339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8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Cấu trúc BP chuẩn hóa của repo bao gồm: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476250" y="2027858"/>
            <a:ext cx="217170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2027858"/>
            <a:ext cx="2171700" cy="962025"/>
          </a:xfrm>
          <a:custGeom>
            <a:avLst/>
            <a:gdLst/>
            <a:ahLst/>
            <a:cxnLst/>
            <a:rect l="l" t="t" r="r" b="b"/>
            <a:pathLst>
              <a:path w="2171700" h="962025">
                <a:moveTo>
                  <a:pt x="76200" y="0"/>
                </a:moveTo>
                <a:cubicBezTo>
                  <a:pt x="34116" y="0"/>
                  <a:pt x="0" y="34116"/>
                  <a:pt x="0" y="76200"/>
                </a:cubicBezTo>
                <a:lnTo>
                  <a:pt x="0" y="885825"/>
                </a:lnTo>
                <a:cubicBezTo>
                  <a:pt x="0" y="927909"/>
                  <a:pt x="34116" y="962025"/>
                  <a:pt x="76200" y="962025"/>
                </a:cubicBezTo>
                <a:lnTo>
                  <a:pt x="76200" y="923925"/>
                </a:lnTo>
                <a:cubicBezTo>
                  <a:pt x="55158" y="923925"/>
                  <a:pt x="38100" y="906867"/>
                  <a:pt x="38100" y="885825"/>
                </a:cubicBezTo>
                <a:lnTo>
                  <a:pt x="38100" y="76200"/>
                </a:lnTo>
                <a:cubicBezTo>
                  <a:pt x="38100" y="55158"/>
                  <a:pt x="55158" y="38100"/>
                  <a:pt x="76200" y="381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4850" y="2218358"/>
            <a:ext cx="1752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/rules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704850" y="2475533"/>
            <a:ext cx="175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cấu hình (ví dụ: using-superpowers)</a:t>
            </a:r>
            <a:endParaRPr lang="en-US" sz="998" dirty="0"/>
          </a:p>
        </p:txBody>
      </p:sp>
      <p:sp>
        <p:nvSpPr>
          <p:cNvPr id="8" name="Shape 6"/>
          <p:cNvSpPr/>
          <p:nvPr/>
        </p:nvSpPr>
        <p:spPr>
          <a:xfrm>
            <a:off x="2838450" y="2027858"/>
            <a:ext cx="217170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838450" y="2027858"/>
            <a:ext cx="2171700" cy="962025"/>
          </a:xfrm>
          <a:custGeom>
            <a:avLst/>
            <a:gdLst/>
            <a:ahLst/>
            <a:cxnLst/>
            <a:rect l="l" t="t" r="r" b="b"/>
            <a:pathLst>
              <a:path w="2171700" h="962025">
                <a:moveTo>
                  <a:pt x="76200" y="0"/>
                </a:moveTo>
                <a:cubicBezTo>
                  <a:pt x="34116" y="0"/>
                  <a:pt x="0" y="34116"/>
                  <a:pt x="0" y="76200"/>
                </a:cubicBezTo>
                <a:lnTo>
                  <a:pt x="0" y="885825"/>
                </a:lnTo>
                <a:cubicBezTo>
                  <a:pt x="0" y="927909"/>
                  <a:pt x="34116" y="962025"/>
                  <a:pt x="76200" y="962025"/>
                </a:cubicBezTo>
                <a:lnTo>
                  <a:pt x="76200" y="923925"/>
                </a:lnTo>
                <a:cubicBezTo>
                  <a:pt x="55158" y="923925"/>
                  <a:pt x="38100" y="906867"/>
                  <a:pt x="38100" y="885825"/>
                </a:cubicBezTo>
                <a:lnTo>
                  <a:pt x="38100" y="76200"/>
                </a:lnTo>
                <a:cubicBezTo>
                  <a:pt x="38100" y="55158"/>
                  <a:pt x="55158" y="38100"/>
                  <a:pt x="76200" y="381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067050" y="2218358"/>
            <a:ext cx="1752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/workflows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3067050" y="2475533"/>
            <a:ext cx="175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Chuỗi tác vụ workflow như slash commands.</a:t>
            </a:r>
            <a:endParaRPr lang="en-US" sz="998" dirty="0"/>
          </a:p>
        </p:txBody>
      </p:sp>
      <p:sp>
        <p:nvSpPr>
          <p:cNvPr id="12" name="Shape 10"/>
          <p:cNvSpPr/>
          <p:nvPr/>
        </p:nvSpPr>
        <p:spPr>
          <a:xfrm>
            <a:off x="476250" y="3180383"/>
            <a:ext cx="2171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6250" y="3180383"/>
            <a:ext cx="2171700" cy="1123950"/>
          </a:xfrm>
          <a:custGeom>
            <a:avLst/>
            <a:gdLst/>
            <a:ahLst/>
            <a:cxnLst/>
            <a:rect l="l" t="t" r="r" b="b"/>
            <a:pathLst>
              <a:path w="2171700" h="1123950">
                <a:moveTo>
                  <a:pt x="76200" y="0"/>
                </a:moveTo>
                <a:cubicBezTo>
                  <a:pt x="34116" y="0"/>
                  <a:pt x="0" y="34116"/>
                  <a:pt x="0" y="76200"/>
                </a:cubicBezTo>
                <a:lnTo>
                  <a:pt x="0" y="1047750"/>
                </a:lnTo>
                <a:cubicBezTo>
                  <a:pt x="0" y="1089834"/>
                  <a:pt x="34116" y="1123950"/>
                  <a:pt x="76200" y="1123950"/>
                </a:cubicBezTo>
                <a:lnTo>
                  <a:pt x="76200" y="1085850"/>
                </a:lnTo>
                <a:cubicBezTo>
                  <a:pt x="55158" y="1085850"/>
                  <a:pt x="38100" y="1068792"/>
                  <a:pt x="38100" y="1047750"/>
                </a:cubicBezTo>
                <a:lnTo>
                  <a:pt x="38100" y="76200"/>
                </a:lnTo>
                <a:cubicBezTo>
                  <a:pt x="38100" y="55158"/>
                  <a:pt x="55158" y="38100"/>
                  <a:pt x="76200" y="381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04850" y="3370883"/>
            <a:ext cx="1752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/skills</a:t>
            </a:r>
            <a:endParaRPr lang="en-US" sz="1283" dirty="0"/>
          </a:p>
        </p:txBody>
      </p:sp>
      <p:sp>
        <p:nvSpPr>
          <p:cNvPr id="15" name="Text 13"/>
          <p:cNvSpPr/>
          <p:nvPr/>
        </p:nvSpPr>
        <p:spPr>
          <a:xfrm>
            <a:off x="704850" y="3628058"/>
            <a:ext cx="1752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Kho 13 kỹ năng chuyên biệt (debugging, planning) nạp on-demand.</a:t>
            </a:r>
            <a:endParaRPr lang="en-US" sz="998" dirty="0"/>
          </a:p>
        </p:txBody>
      </p:sp>
      <p:sp>
        <p:nvSpPr>
          <p:cNvPr id="16" name="Shape 14"/>
          <p:cNvSpPr/>
          <p:nvPr/>
        </p:nvSpPr>
        <p:spPr>
          <a:xfrm>
            <a:off x="2838450" y="3180383"/>
            <a:ext cx="2171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8450" y="3180383"/>
            <a:ext cx="2171700" cy="1123950"/>
          </a:xfrm>
          <a:custGeom>
            <a:avLst/>
            <a:gdLst/>
            <a:ahLst/>
            <a:cxnLst/>
            <a:rect l="l" t="t" r="r" b="b"/>
            <a:pathLst>
              <a:path w="2171700" h="1123950">
                <a:moveTo>
                  <a:pt x="76200" y="0"/>
                </a:moveTo>
                <a:cubicBezTo>
                  <a:pt x="34116" y="0"/>
                  <a:pt x="0" y="34116"/>
                  <a:pt x="0" y="76200"/>
                </a:cubicBezTo>
                <a:lnTo>
                  <a:pt x="0" y="1047750"/>
                </a:lnTo>
                <a:cubicBezTo>
                  <a:pt x="0" y="1089834"/>
                  <a:pt x="34116" y="1123950"/>
                  <a:pt x="76200" y="1123950"/>
                </a:cubicBezTo>
                <a:lnTo>
                  <a:pt x="76200" y="1085850"/>
                </a:lnTo>
                <a:cubicBezTo>
                  <a:pt x="55158" y="1085850"/>
                  <a:pt x="38100" y="1068792"/>
                  <a:pt x="38100" y="1047750"/>
                </a:cubicBezTo>
                <a:lnTo>
                  <a:pt x="38100" y="76200"/>
                </a:lnTo>
                <a:cubicBezTo>
                  <a:pt x="38100" y="55158"/>
                  <a:pt x="55158" y="38100"/>
                  <a:pt x="76200" y="381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067050" y="3370883"/>
            <a:ext cx="1752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/docs</a:t>
            </a:r>
            <a:endParaRPr lang="en-US" sz="1283" dirty="0"/>
          </a:p>
        </p:txBody>
      </p:sp>
      <p:sp>
        <p:nvSpPr>
          <p:cNvPr id="19" name="Text 17"/>
          <p:cNvSpPr/>
          <p:nvPr/>
        </p:nvSpPr>
        <p:spPr>
          <a:xfrm>
            <a:off x="3067050" y="3628058"/>
            <a:ext cx="1752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Kho lưu trữ thiết kế (Specs) và kế hoạch thực thi (Plans).</a:t>
            </a:r>
            <a:endParaRPr lang="en-US" sz="998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795" y="1261095"/>
            <a:ext cx="2621235" cy="2621235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&amp; Cơ Chế Nạp Kỹ Năng Thông Minh</a:t>
            </a:r>
            <a:endParaRPr lang="en-US" sz="2708" dirty="0"/>
          </a:p>
        </p:txBody>
      </p:sp>
      <p:sp>
        <p:nvSpPr>
          <p:cNvPr id="3" name="Shape 1"/>
          <p:cNvSpPr/>
          <p:nvPr/>
        </p:nvSpPr>
        <p:spPr>
          <a:xfrm>
            <a:off x="571500" y="1295400"/>
            <a:ext cx="3810000" cy="337185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38100" dir="10800000">
              <a:srgbClr val="000000">
                <a:alpha val="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81150"/>
            <a:ext cx="3810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7250" y="2228850"/>
            <a:ext cx="3238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Khởi động mặc định</a:t>
            </a:r>
            <a:endParaRPr lang="en-US" sz="1568" dirty="0"/>
          </a:p>
        </p:txBody>
      </p:sp>
      <p:sp>
        <p:nvSpPr>
          <p:cNvPr id="6" name="Text 3"/>
          <p:cNvSpPr/>
          <p:nvPr/>
        </p:nvSpPr>
        <p:spPr>
          <a:xfrm>
            <a:off x="857250" y="2628900"/>
            <a:ext cx="32385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Mỗi phiên làm việc, Agent luôn tự động load tập tin </a:t>
            </a:r>
            <a:pPr algn="l" indent="0" marL="0">
              <a:lnSpc>
                <a:spcPct val="133333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using-superpowers</a:t>
            </a:r>
            <a:pPr algn="l" indent="0" marL="0">
              <a:lnSpc>
                <a:spcPct val="133333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Tạo nền tảng ban đầu để agent "hiểu mình là ai".</a:t>
            </a:r>
            <a:endParaRPr lang="en-US" sz="1140" dirty="0"/>
          </a:p>
        </p:txBody>
      </p:sp>
      <p:sp>
        <p:nvSpPr>
          <p:cNvPr id="7" name="Shape 4"/>
          <p:cNvSpPr/>
          <p:nvPr/>
        </p:nvSpPr>
        <p:spPr>
          <a:xfrm>
            <a:off x="4762500" y="1295400"/>
            <a:ext cx="3810000" cy="337185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7150" dist="38100" dir="10800000">
              <a:srgbClr val="000000">
                <a:alpha val="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0" y="1581150"/>
            <a:ext cx="3810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48250" y="2228850"/>
            <a:ext cx="3238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Activation</a:t>
            </a:r>
            <a:endParaRPr lang="en-US" sz="1568" dirty="0"/>
          </a:p>
        </p:txBody>
      </p:sp>
      <p:sp>
        <p:nvSpPr>
          <p:cNvPr id="10" name="Text 6"/>
          <p:cNvSpPr/>
          <p:nvPr/>
        </p:nvSpPr>
        <p:spPr>
          <a:xfrm>
            <a:off x="5048250" y="2628900"/>
            <a:ext cx="323850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thống quét prompt. Nếu nội dung khớp ≥1% mô tả của một skill riêng biệt, agent tự động tải tập lệnh chuyên sâu và cài đặt luồng xử lý mới.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Quy Trình Vibe Code Kỷ Luật</a:t>
            </a:r>
            <a:endParaRPr lang="en-US" sz="2708" dirty="0"/>
          </a:p>
        </p:txBody>
      </p:sp>
      <p:sp>
        <p:nvSpPr>
          <p:cNvPr id="3" name="Text 1"/>
          <p:cNvSpPr/>
          <p:nvPr/>
        </p:nvSpPr>
        <p:spPr>
          <a:xfrm>
            <a:off x="476250" y="1009650"/>
            <a:ext cx="819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Triết lý: TDD • Systematic over Ad-hoc • Evidence over Claims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1950690" y="2600325"/>
            <a:ext cx="5242620" cy="381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1885950"/>
            <a:ext cx="1428750" cy="1428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  <a:effectLst>
            <a:outerShdw sx="100000" sy="100000" kx="0" ky="0" algn="bl" rotWithShape="0" blurRad="57150" dist="38100" dir="108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325" y="2181225"/>
            <a:ext cx="342900" cy="409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9364" y="2638425"/>
            <a:ext cx="8607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/brainstorm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1704008" y="2871788"/>
            <a:ext cx="61146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Chốt Spec</a:t>
            </a:r>
            <a:endParaRPr lang="en-US" sz="926" dirty="0"/>
          </a:p>
        </p:txBody>
      </p:sp>
      <p:sp>
        <p:nvSpPr>
          <p:cNvPr id="9" name="Shape 6"/>
          <p:cNvSpPr/>
          <p:nvPr/>
        </p:nvSpPr>
        <p:spPr>
          <a:xfrm>
            <a:off x="3857625" y="1885950"/>
            <a:ext cx="1428750" cy="1428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38100">
            <a:solidFill>
              <a:srgbClr val="06B6D4"/>
            </a:solidFill>
            <a:prstDash val="solid"/>
          </a:ln>
          <a:effectLst>
            <a:outerShdw sx="100000" sy="100000" kx="0" ky="0" algn="bl" rotWithShape="0" blurRad="57150" dist="38100" dir="108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181225"/>
            <a:ext cx="342900" cy="4095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3913" y="2638425"/>
            <a:ext cx="81617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/write-plan</a:t>
            </a:r>
            <a:endParaRPr lang="en-US" sz="1140" dirty="0"/>
          </a:p>
        </p:txBody>
      </p:sp>
      <p:sp>
        <p:nvSpPr>
          <p:cNvPr id="12" name="Text 8"/>
          <p:cNvSpPr/>
          <p:nvPr/>
        </p:nvSpPr>
        <p:spPr>
          <a:xfrm>
            <a:off x="4148286" y="2871788"/>
            <a:ext cx="84735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Chia Task Nhỏ</a:t>
            </a:r>
            <a:endParaRPr lang="en-US" sz="926" dirty="0"/>
          </a:p>
        </p:txBody>
      </p:sp>
      <p:sp>
        <p:nvSpPr>
          <p:cNvPr id="13" name="Shape 9"/>
          <p:cNvSpPr/>
          <p:nvPr/>
        </p:nvSpPr>
        <p:spPr>
          <a:xfrm>
            <a:off x="6419850" y="1885950"/>
            <a:ext cx="1428750" cy="1428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57150" dist="38100" dir="108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775" y="2181225"/>
            <a:ext cx="342900" cy="4095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19429" y="2638425"/>
            <a:ext cx="102959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/execute-plan</a:t>
            </a:r>
            <a:endParaRPr lang="en-US" sz="1140" dirty="0"/>
          </a:p>
        </p:txBody>
      </p:sp>
      <p:sp>
        <p:nvSpPr>
          <p:cNvPr id="16" name="Text 11"/>
          <p:cNvSpPr/>
          <p:nvPr/>
        </p:nvSpPr>
        <p:spPr>
          <a:xfrm>
            <a:off x="6464945" y="2871788"/>
            <a:ext cx="1338486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Thực Thi + Checkpoint</a:t>
            </a:r>
            <a:endParaRPr lang="en-US" sz="92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0767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Áp Dụng Thực Tiễn</a:t>
            </a:r>
            <a:endParaRPr lang="en-US" sz="2565" dirty="0"/>
          </a:p>
        </p:txBody>
      </p:sp>
      <p:sp>
        <p:nvSpPr>
          <p:cNvPr id="3" name="Text 1"/>
          <p:cNvSpPr/>
          <p:nvPr/>
        </p:nvSpPr>
        <p:spPr>
          <a:xfrm>
            <a:off x="476250" y="1176338"/>
            <a:ext cx="4076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Sửa Bug Hệ Thống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476250" y="1433513"/>
            <a:ext cx="4076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Chạy 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systematic-debugging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truy nguyên root cause, theo sau bởi 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verification-before-completion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476250" y="2043113"/>
            <a:ext cx="4076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Nghiên Cứu Đa Tuyến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476250" y="2300288"/>
            <a:ext cx="40767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Sử dụng 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dispatching-parallel-agents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kích hoạt đọc file song song trên toàn codebase.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476250" y="2895600"/>
            <a:ext cx="4076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Đóng Gói BP &amp; Cống Hiến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76250" y="3152775"/>
            <a:ext cx="40767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Tạo file qua trình 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creating-skills</a:t>
            </a:r>
            <a:pPr algn="l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để hoàn thiện artifact và chia sẻ lên hệ thống AXon.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61719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419100"/>
            <a:ext cx="807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4" b="1" spc="150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QUY TRÌNH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33400" y="600075"/>
            <a:ext cx="807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38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Làm việc có kỷ luật</a:t>
            </a:r>
            <a:endParaRPr lang="en-US" sz="2138" dirty="0"/>
          </a:p>
        </p:txBody>
      </p:sp>
      <p:sp>
        <p:nvSpPr>
          <p:cNvPr id="5" name="Text 2"/>
          <p:cNvSpPr/>
          <p:nvPr/>
        </p:nvSpPr>
        <p:spPr>
          <a:xfrm>
            <a:off x="533400" y="981075"/>
            <a:ext cx="8077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6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Triết lý: </a:t>
            </a:r>
            <a:pPr algn="l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TDD</a:t>
            </a:r>
            <a:pPr algn="l" indent="0" marL="0">
              <a:buNone/>
            </a:pPr>
            <a:r>
              <a:rPr lang="en-US" sz="926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· </a:t>
            </a:r>
            <a:pPr algn="l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Systematic over Ad-hoc</a:t>
            </a:r>
            <a:pPr algn="l" indent="0" marL="0">
              <a:buNone/>
            </a:pPr>
            <a:r>
              <a:rPr lang="en-US" sz="926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· </a:t>
            </a:r>
            <a:pPr algn="l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Evidence over Claims</a:t>
            </a:r>
            <a:endParaRPr lang="en-US" sz="92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46" y="1314450"/>
            <a:ext cx="1238250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69046" y="1447800"/>
            <a:ext cx="857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8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/brainstorm</a:t>
            </a:r>
            <a:endParaRPr lang="en-US" sz="998" dirty="0"/>
          </a:p>
        </p:txBody>
      </p:sp>
      <p:sp>
        <p:nvSpPr>
          <p:cNvPr id="8" name="Text 4"/>
          <p:cNvSpPr/>
          <p:nvPr/>
        </p:nvSpPr>
        <p:spPr>
          <a:xfrm>
            <a:off x="2369046" y="1643063"/>
            <a:ext cx="85725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BFDB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Chốt Spec</a:t>
            </a:r>
            <a:endParaRPr lang="en-US" sz="71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096" y="1485900"/>
            <a:ext cx="228600" cy="2286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996" y="1314450"/>
            <a:ext cx="1238250" cy="571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64496" y="1447800"/>
            <a:ext cx="857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8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/write-plan</a:t>
            </a:r>
            <a:endParaRPr lang="en-US" sz="998" dirty="0"/>
          </a:p>
        </p:txBody>
      </p:sp>
      <p:sp>
        <p:nvSpPr>
          <p:cNvPr id="12" name="Text 6"/>
          <p:cNvSpPr/>
          <p:nvPr/>
        </p:nvSpPr>
        <p:spPr>
          <a:xfrm>
            <a:off x="4064496" y="1643063"/>
            <a:ext cx="85725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CFFA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Chia Task nhỏ</a:t>
            </a:r>
            <a:endParaRPr lang="en-US" sz="713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546" y="1485900"/>
            <a:ext cx="228600" cy="22860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446" y="1314450"/>
            <a:ext cx="1395933" cy="5715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759946" y="1447800"/>
            <a:ext cx="10149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8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/execute-plan</a:t>
            </a:r>
            <a:endParaRPr lang="en-US" sz="998" dirty="0"/>
          </a:p>
        </p:txBody>
      </p:sp>
      <p:sp>
        <p:nvSpPr>
          <p:cNvPr id="16" name="Text 8"/>
          <p:cNvSpPr/>
          <p:nvPr/>
        </p:nvSpPr>
        <p:spPr>
          <a:xfrm>
            <a:off x="5759946" y="1643063"/>
            <a:ext cx="1014933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D1FA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Thực thi + Checkpoint</a:t>
            </a:r>
            <a:endParaRPr lang="en-US" sz="713" dirty="0"/>
          </a:p>
        </p:txBody>
      </p:sp>
      <p:sp>
        <p:nvSpPr>
          <p:cNvPr id="17" name="Shape 9"/>
          <p:cNvSpPr/>
          <p:nvPr/>
        </p:nvSpPr>
        <p:spPr>
          <a:xfrm>
            <a:off x="533400" y="2095500"/>
            <a:ext cx="2616175" cy="2628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2238375"/>
            <a:ext cx="171450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04875" y="2257425"/>
            <a:ext cx="4597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Thiết kế</a:t>
            </a:r>
            <a:endParaRPr lang="en-US" sz="855" dirty="0"/>
          </a:p>
        </p:txBody>
      </p:sp>
      <p:sp>
        <p:nvSpPr>
          <p:cNvPr id="20" name="Text 11"/>
          <p:cNvSpPr/>
          <p:nvPr/>
        </p:nvSpPr>
        <p:spPr>
          <a:xfrm>
            <a:off x="676275" y="2486025"/>
            <a:ext cx="2330425" cy="356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brainstorming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writing-plans</a:t>
            </a:r>
            <a:endParaRPr lang="en-US" sz="784" dirty="0"/>
          </a:p>
        </p:txBody>
      </p:sp>
      <p:sp>
        <p:nvSpPr>
          <p:cNvPr id="21" name="Shape 12"/>
          <p:cNvSpPr/>
          <p:nvPr/>
        </p:nvSpPr>
        <p:spPr>
          <a:xfrm>
            <a:off x="3263875" y="2095500"/>
            <a:ext cx="2616175" cy="2628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750" y="2238375"/>
            <a:ext cx="171450" cy="1714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635350" y="2257425"/>
            <a:ext cx="4681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0596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Thực thi</a:t>
            </a:r>
            <a:endParaRPr lang="en-US" sz="855" dirty="0"/>
          </a:p>
        </p:txBody>
      </p:sp>
      <p:sp>
        <p:nvSpPr>
          <p:cNvPr id="24" name="Text 14"/>
          <p:cNvSpPr/>
          <p:nvPr/>
        </p:nvSpPr>
        <p:spPr>
          <a:xfrm>
            <a:off x="3406750" y="2486025"/>
            <a:ext cx="2330425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creating-feature-branch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test-driven-development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subagent-driven-dev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executing-plans</a:t>
            </a:r>
            <a:endParaRPr lang="en-US" sz="784" dirty="0"/>
          </a:p>
        </p:txBody>
      </p:sp>
      <p:sp>
        <p:nvSpPr>
          <p:cNvPr id="25" name="Shape 15"/>
          <p:cNvSpPr/>
          <p:nvPr/>
        </p:nvSpPr>
        <p:spPr>
          <a:xfrm>
            <a:off x="5994350" y="2095500"/>
            <a:ext cx="2616175" cy="2628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7225" y="2238375"/>
            <a:ext cx="171450" cy="17145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365825" y="2257425"/>
            <a:ext cx="622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DC262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Chất lượng</a:t>
            </a:r>
            <a:endParaRPr lang="en-US" sz="855" dirty="0"/>
          </a:p>
        </p:txBody>
      </p:sp>
      <p:sp>
        <p:nvSpPr>
          <p:cNvPr id="28" name="Text 17"/>
          <p:cNvSpPr/>
          <p:nvPr/>
        </p:nvSpPr>
        <p:spPr>
          <a:xfrm>
            <a:off x="6137225" y="2486025"/>
            <a:ext cx="2330425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systematic-debugging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code-review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verification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7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finishing-branch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419100"/>
            <a:ext cx="8077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4" b="1" spc="150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ỨNG DỤNG THỰC TẾ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33400" y="600075"/>
            <a:ext cx="807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38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Tình huống sử dụng</a:t>
            </a:r>
            <a:endParaRPr lang="en-US" sz="2138" dirty="0"/>
          </a:p>
        </p:txBody>
      </p:sp>
      <p:sp>
        <p:nvSpPr>
          <p:cNvPr id="5" name="Shape 2"/>
          <p:cNvSpPr/>
          <p:nvPr/>
        </p:nvSpPr>
        <p:spPr>
          <a:xfrm>
            <a:off x="533400" y="1133475"/>
            <a:ext cx="3981450" cy="11668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5325" y="12763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43025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4425" y="1276350"/>
            <a:ext cx="3011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Tính năng mới</a:t>
            </a:r>
            <a:endParaRPr lang="en-US" sz="926" dirty="0"/>
          </a:p>
        </p:txBody>
      </p:sp>
      <p:sp>
        <p:nvSpPr>
          <p:cNvPr id="9" name="Text 5"/>
          <p:cNvSpPr/>
          <p:nvPr/>
        </p:nvSpPr>
        <p:spPr>
          <a:xfrm>
            <a:off x="1114425" y="1457325"/>
            <a:ext cx="301123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4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/brainstorm → /write-plan → creating-feature-branch → TDD</a:t>
            </a:r>
            <a:endParaRPr lang="en-US" sz="784" dirty="0"/>
          </a:p>
        </p:txBody>
      </p:sp>
      <p:sp>
        <p:nvSpPr>
          <p:cNvPr id="10" name="Shape 6"/>
          <p:cNvSpPr/>
          <p:nvPr/>
        </p:nvSpPr>
        <p:spPr>
          <a:xfrm>
            <a:off x="4629150" y="1133475"/>
            <a:ext cx="3981450" cy="11668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91075" y="12763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343025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0175" y="1276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Sửa bug</a:t>
            </a:r>
            <a:endParaRPr lang="en-US" sz="926" dirty="0"/>
          </a:p>
        </p:txBody>
      </p:sp>
      <p:sp>
        <p:nvSpPr>
          <p:cNvPr id="14" name="Text 9"/>
          <p:cNvSpPr/>
          <p:nvPr/>
        </p:nvSpPr>
        <p:spPr>
          <a:xfrm>
            <a:off x="5210175" y="1457325"/>
            <a:ext cx="3238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4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systematic-debugging (tìm root cause) → verification-before-completion</a:t>
            </a:r>
            <a:endParaRPr lang="en-US" sz="784" dirty="0"/>
          </a:p>
        </p:txBody>
      </p:sp>
      <p:sp>
        <p:nvSpPr>
          <p:cNvPr id="15" name="Shape 10"/>
          <p:cNvSpPr/>
          <p:nvPr/>
        </p:nvSpPr>
        <p:spPr>
          <a:xfrm>
            <a:off x="533400" y="2414588"/>
            <a:ext cx="3981450" cy="11668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5325" y="25574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24138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4425" y="2557463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Nghiên cứu song song</a:t>
            </a:r>
            <a:endParaRPr lang="en-US" sz="926" dirty="0"/>
          </a:p>
        </p:txBody>
      </p:sp>
      <p:sp>
        <p:nvSpPr>
          <p:cNvPr id="19" name="Text 13"/>
          <p:cNvSpPr/>
          <p:nvPr/>
        </p:nvSpPr>
        <p:spPr>
          <a:xfrm>
            <a:off x="1114425" y="2738438"/>
            <a:ext cx="3238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4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dispatching-parallel-agents — nhiều subagent read-only chạy đồng thời</a:t>
            </a:r>
            <a:endParaRPr lang="en-US" sz="784" dirty="0"/>
          </a:p>
        </p:txBody>
      </p:sp>
      <p:sp>
        <p:nvSpPr>
          <p:cNvPr id="20" name="Shape 14"/>
          <p:cNvSpPr/>
          <p:nvPr/>
        </p:nvSpPr>
        <p:spPr>
          <a:xfrm>
            <a:off x="4629150" y="2414588"/>
            <a:ext cx="3981450" cy="1166813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91075" y="25574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624138"/>
            <a:ext cx="171450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0175" y="2557463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Trước khi merge</a:t>
            </a:r>
            <a:endParaRPr lang="en-US" sz="926" dirty="0"/>
          </a:p>
        </p:txBody>
      </p:sp>
      <p:sp>
        <p:nvSpPr>
          <p:cNvPr id="24" name="Text 17"/>
          <p:cNvSpPr/>
          <p:nvPr/>
        </p:nvSpPr>
        <p:spPr>
          <a:xfrm>
            <a:off x="5210175" y="2738438"/>
            <a:ext cx="3238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4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requesting/receiving-code-review → finishing-a-development-branch</a:t>
            </a:r>
            <a:endParaRPr lang="en-US" sz="784" dirty="0"/>
          </a:p>
        </p:txBody>
      </p:sp>
      <p:sp>
        <p:nvSpPr>
          <p:cNvPr id="25" name="Shape 18"/>
          <p:cNvSpPr/>
          <p:nvPr/>
        </p:nvSpPr>
        <p:spPr>
          <a:xfrm>
            <a:off x="533400" y="3695700"/>
            <a:ext cx="8077200" cy="1028700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04850" y="38481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914775"/>
            <a:ext cx="171450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23950" y="3848100"/>
            <a:ext cx="5984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6" b="1" dirty="0">
                <a:solidFill>
                  <a:srgbClr val="1E40A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Đóng gói kinh nghiệm → Nộp cuộc thi</a:t>
            </a:r>
            <a:endParaRPr lang="en-US" sz="926" dirty="0"/>
          </a:p>
        </p:txBody>
      </p:sp>
      <p:sp>
        <p:nvSpPr>
          <p:cNvPr id="29" name="Text 21"/>
          <p:cNvSpPr/>
          <p:nvPr/>
        </p:nvSpPr>
        <p:spPr>
          <a:xfrm>
            <a:off x="1123950" y="4029075"/>
            <a:ext cx="59849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4" dirty="0">
                <a:solidFill>
                  <a:srgbClr val="3B82F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creating-skills / creating-rules / creating-workflows / creating-hooks → sản sinh Best Practice ngay trong quá trình build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8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793924"/>
            <a:ext cx="533400" cy="533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927274"/>
            <a:ext cx="266700" cy="2667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51536" y="1517824"/>
            <a:ext cx="124092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Tổng kết</a:t>
            </a:r>
            <a:endParaRPr lang="en-US" sz="2280" dirty="0"/>
          </a:p>
        </p:txBody>
      </p:sp>
      <p:sp>
        <p:nvSpPr>
          <p:cNvPr id="6" name="Text 1"/>
          <p:cNvSpPr/>
          <p:nvPr/>
        </p:nvSpPr>
        <p:spPr>
          <a:xfrm>
            <a:off x="1714500" y="1994074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1069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superpower-custom giúp đội VibeCheck vibe code AXon một cách </a:t>
            </a:r>
            <a:pPr algn="ctr" indent="0" marL="0">
              <a:lnSpc>
                <a:spcPct val="133333"/>
              </a:lnSpc>
              <a:buNone/>
            </a:pPr>
            <a:r>
              <a:rPr lang="en-US" sz="1069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có kỷ luật</a:t>
            </a:r>
            <a:pPr algn="ctr" indent="0" marL="0">
              <a:lnSpc>
                <a:spcPct val="133333"/>
              </a:lnSpc>
              <a:buNone/>
            </a:pPr>
            <a:r>
              <a:rPr lang="en-US" sz="1069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mỗi dòng code đều sinh ra Best Practice tái sử dụng</a:t>
            </a:r>
            <a:endParaRPr lang="en-US" sz="1069" dirty="0"/>
          </a:p>
        </p:txBody>
      </p:sp>
      <p:sp>
        <p:nvSpPr>
          <p:cNvPr id="7" name="Shape 2"/>
          <p:cNvSpPr/>
          <p:nvPr/>
        </p:nvSpPr>
        <p:spPr>
          <a:xfrm>
            <a:off x="1143000" y="2717974"/>
            <a:ext cx="2158975" cy="1193453"/>
          </a:xfrm>
          <a:prstGeom prst="roundRect">
            <a:avLst>
              <a:gd name="adj" fmla="val 95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625" y="2875136"/>
            <a:ext cx="247650" cy="2952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23975" y="3256136"/>
            <a:ext cx="17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 Skills</a:t>
            </a:r>
            <a:endParaRPr lang="en-US" sz="926" dirty="0"/>
          </a:p>
        </p:txBody>
      </p:sp>
      <p:sp>
        <p:nvSpPr>
          <p:cNvPr id="10" name="Text 4"/>
          <p:cNvSpPr/>
          <p:nvPr/>
        </p:nvSpPr>
        <p:spPr>
          <a:xfrm>
            <a:off x="1323975" y="3437111"/>
            <a:ext cx="179702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784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Nạp on-demand, tiết kiệm context window</a:t>
            </a:r>
            <a:endParaRPr lang="en-US" sz="784" dirty="0"/>
          </a:p>
        </p:txBody>
      </p:sp>
      <p:sp>
        <p:nvSpPr>
          <p:cNvPr id="11" name="Shape 5"/>
          <p:cNvSpPr/>
          <p:nvPr/>
        </p:nvSpPr>
        <p:spPr>
          <a:xfrm>
            <a:off x="3492475" y="2717974"/>
            <a:ext cx="2159050" cy="1193453"/>
          </a:xfrm>
          <a:prstGeom prst="roundRect">
            <a:avLst>
              <a:gd name="adj" fmla="val 95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75" y="2875136"/>
            <a:ext cx="247650" cy="2952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673450" y="3256136"/>
            <a:ext cx="1797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 + Subagents</a:t>
            </a:r>
            <a:endParaRPr lang="en-US" sz="926" dirty="0"/>
          </a:p>
        </p:txBody>
      </p:sp>
      <p:sp>
        <p:nvSpPr>
          <p:cNvPr id="14" name="Text 7"/>
          <p:cNvSpPr/>
          <p:nvPr/>
        </p:nvSpPr>
        <p:spPr>
          <a:xfrm>
            <a:off x="3673450" y="3437111"/>
            <a:ext cx="17971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784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Main viết code, Sub đọc file song song</a:t>
            </a:r>
            <a:endParaRPr lang="en-US" sz="784" dirty="0"/>
          </a:p>
        </p:txBody>
      </p:sp>
      <p:sp>
        <p:nvSpPr>
          <p:cNvPr id="15" name="Shape 8"/>
          <p:cNvSpPr/>
          <p:nvPr/>
        </p:nvSpPr>
        <p:spPr>
          <a:xfrm>
            <a:off x="5842025" y="2717974"/>
            <a:ext cx="2158975" cy="1193453"/>
          </a:xfrm>
          <a:prstGeom prst="roundRect">
            <a:avLst>
              <a:gd name="adj" fmla="val 95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7650" y="2875136"/>
            <a:ext cx="247650" cy="2952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023000" y="3256136"/>
            <a:ext cx="17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6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TDD + Review</a:t>
            </a:r>
            <a:endParaRPr lang="en-US" sz="926" dirty="0"/>
          </a:p>
        </p:txBody>
      </p:sp>
      <p:sp>
        <p:nvSpPr>
          <p:cNvPr id="18" name="Text 10"/>
          <p:cNvSpPr/>
          <p:nvPr/>
        </p:nvSpPr>
        <p:spPr>
          <a:xfrm>
            <a:off x="6023000" y="3437111"/>
            <a:ext cx="1797025" cy="1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784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Systematic, evidence-based coding</a:t>
            </a:r>
            <a:endParaRPr lang="en-US" sz="784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590" y="4178126"/>
            <a:ext cx="171450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157240" y="4197176"/>
            <a:ext cx="3077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Team VibeCheck — Trang · Hoàng Anh · Nga · Uy · Hoàng</a:t>
            </a:r>
            <a:endParaRPr lang="en-US" sz="85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VibeCheck Reviving AXon for On‑the‑Fly Best Practices</dc:title>
  <dc:subject>PptxGenJS Presentation</dc:subject>
  <dc:creator>Deckly</dc:creator>
  <cp:lastModifiedBy>Deckly</cp:lastModifiedBy>
  <cp:revision>1</cp:revision>
  <dcterms:created xsi:type="dcterms:W3CDTF">2026-06-03T16:08:54Z</dcterms:created>
  <dcterms:modified xsi:type="dcterms:W3CDTF">2026-06-03T16:08:54Z</dcterms:modified>
</cp:coreProperties>
</file>